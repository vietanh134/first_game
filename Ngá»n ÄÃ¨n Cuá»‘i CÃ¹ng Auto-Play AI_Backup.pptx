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8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600000"/>
            <a:ext cx="5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284C7"/>
                </a:solidFill>
                <a:latin typeface="Arial"/>
              </a:defRPr>
            </a:pPr>
            <a:r>
              <a:t>DEEP LEARNING IN MEDICINE</a:t>
            </a:r>
          </a:p>
          <a:p>
            <a:pPr>
              <a:spcAft>
                <a:spcPts val="8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PHÂN LOẠI TỔN THƯƠNG DA</a:t>
            </a:r>
            <a:br/>
            <a:r>
              <a:t>PHỤC VỤ PHÁT HIỆN SỚM</a:t>
            </a:r>
            <a:br/>
            <a:r>
              <a:t>UNG THƯ BẰNG CNN</a:t>
            </a:r>
          </a:p>
          <a:p>
            <a:pPr>
              <a:spcAft>
                <a:spcPts val="2800"/>
              </a:spcAft>
              <a:defRPr sz="1300" i="1">
                <a:solidFill>
                  <a:srgbClr val="475569"/>
                </a:solidFill>
                <a:latin typeface="Arial"/>
              </a:defRPr>
            </a:pPr>
            <a:r>
              <a:t>Skin Lesion Classification for Early Cancer Detection Using CNN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Môn học: Trí tuệ Nhân tạo / Computer Vision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Nhóm thực hiện: Nhóm Nghiên cứu Y học Số</a:t>
            </a:r>
            <a:br/>
            <a:r>
              <a:t>GVHD: Ban Giám khảo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000" y="800000"/>
            <a:ext cx="2800000" cy="35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CLINICAL PROBLEM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latin typeface="Arial"/>
              </a:defRPr>
            </a:pPr>
            <a:r>
              <a:rPr>
                <a:solidFill>
                  <a:srgbClr val="0F172A"/>
                </a:solidFill>
              </a:rPr>
              <a:t>BỐI CẢNH &amp; THÁCH THỨC Y TẾ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16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Hiểm họa ung thư da: Melanoma là dạng ung thư da ác tính nguy hiểm nhất; tỷ lệ chữa khỏi &gt;95% nếu phát hiện sớm.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Thách thức chẩn đoán: Tổn thương lành tính và ác tính có biểu hiện rất giống nhau, dễ nhầm lẫn bằng mắt thường.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Giải pháp AI: Học sâu (Deep Learning) giúp tự động hóa phân tích ảnh soi da, hỗ trợ sàng lọc nhanh và chính xác.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0B0F19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kin_clinical_exam_17800187360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latin typeface="Arial"/>
              </a:defRPr>
            </a:pPr>
            <a:r>
              <a:rPr>
                <a:solidFill>
                  <a:srgbClr val="0F172A"/>
                </a:solidFill>
              </a:rPr>
              <a:t>MỤC TIÊU NGHIÊN CỨU ĐỀ TÀI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16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Phân loại đa lớp: Phân loại chính xác tổn thương da thành 7 nhóm bệnh lý dựa trên hình ảnh soi da (HAM10000).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Trích xuất đặc trưng: Ứng dụng mạng CNN phát hiện các đặc trưng vi thể cấu trúc sắc tố mà mắt thường khó nhận biết.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Hỗ trợ lâm sàng: Nâng cao độ nhạy chẩn đoán, giảm tỷ lệ bỏ sót ca bệnh ác tính và hỗ trợ quyết định sinh thiết.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0B0F19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kin_research_goals_17800187663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DERMOSCOPY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latin typeface="Arial"/>
              </a:defRPr>
            </a:pPr>
            <a:r>
              <a:rPr>
                <a:solidFill>
                  <a:srgbClr val="0F172A"/>
                </a:solidFill>
              </a:rPr>
              <a:t>BỘ DỮ LIỆU TIÊU CHUẨN HAM10000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16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Quy mô lớn: Chứa 10,015 ảnh nội soi da độ phân giải cao thu thập từ nhiều chủng tộc trên thế giới.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Phân loại 7 nhóm bệnh: Bao gồm: akiec, bcc, bkl, df, mel (ung thư hắc tố), nv (nốt ruồi thường), và vasc.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Thách thức dữ liệu: Lớp Nevi (nv) chiếm đa số (&gt;67%), gây mất cân bằng dữ liệu nghiêm trọng khi huấn luyện.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0B0F19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kin_dataset_grid_17800187994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DATA 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latin typeface="Arial"/>
              </a:defRPr>
            </a:pPr>
            <a:r>
              <a:rPr>
                <a:solidFill>
                  <a:srgbClr val="0F172A"/>
                </a:solidFill>
              </a:rPr>
              <a:t>QUY TRÌNH TIỀN XỬ LÝ &amp; TĂNG CƯỜNG HÌNH ẢNH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16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Chuẩn hóa ảnh: Cắt ảnh vùng tổn thương -&gt; Resize về kích thước chuẩn 224x224 -&gt; Chuẩn hóa dải màu (Normalization).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Lọc nhiễu DullRazor: Thuật toán tự động phát hiện và loại bỏ các sợi lông/tóc trên bề mặt nốt ruồi.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Tăng cường Augmentation: Xoay, lật, chỉnh tương phản tập train nhằm chống quá khớp (overfitting).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0B0F19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kin_hair_removal_17800188339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LESION SEGMENTATION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PHÂN VÙNG VÀ ĐỊNH VỊ TỔN THƯƠNG 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16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Phân vùng biên (Segmentation): Kỹ thuật ngưỡng động Otsu/U-Net giúp xác định chính xác ranh giới tổn thương.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Khung định vị (Bounding Box): Loại bỏ phần da lành xung quanh, tập trung tài nguyên tính toán vào tâm bệnh.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Phân tích chuẩn ABCD: Đánh giá tính bất đối xứng (A), độ đều của biên (B), màu sắc (C) và đường kính (D).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0B0F19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kin_segmentation_17800188654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DEEP LEARNING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latin typeface="Arial"/>
              </a:defRPr>
            </a:pPr>
            <a:r>
              <a:rPr>
                <a:solidFill>
                  <a:srgbClr val="0F172A"/>
                </a:solidFill>
              </a:rPr>
              <a:t>KIẾN TRÚC MẠNG CNN ĐỀ XUẤT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16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Backbone EfficientNet-B4: Sử dụng mạng pre-trained làm bộ trích xuất đặc trưng chính nhờ hiệu suất tối ưu.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Khối chập Fine-Tuning: Mở băng thông huấn luyện của 3 khối chập cuối cùng để tối ưu riêng cho ảnh y tế da liễu.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Đầu ra phân loại: Lớp kết nối đầy đủ (Dense Layer) + hàm Softmax dự báo xác suất cho 7 lớp tổn thương 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0B0F19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kin_cnn_architecture_17800186233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ATTENTION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CƠ CHẾ CHÚ Ý SE-BLOCK VÀ CBAM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16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Khối chú ý SE-Block: Tự động học và gán trọng số ưu tiên cho các kênh đặc trưng quan trọng nhất (như kênh màu sắc).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Khối không gian CBAM: Giúp mạng CNN tập trung cao độ vào đường biên bất thường và vùng sắc tố của nốt ruồi.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Hiệu quả: Loại bỏ nhiễu từ vùng da lành, nâng cao độ nhạy với các tổn thương có kích thước nhỏ.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0B0F19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kin_attention_heatmap_17800189078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OPTIMIZATION &amp; TRAINING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QUY TRÌNH HUẤN LUYỆN &amp; TỐI ƯU HÓA MÔ HÌNH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16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Phân chia dữ liệu: Tỷ lệ Train/Val/Test độc lập chuẩn 80/10/10 trên tập dữ liệu HAM10000.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Xử lý mất cân bằng: Áp dụng Focal Loss thay thế Cross-Entropy để phạt nặng sai số trên các lớp hiếm gặp.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Tối ưu AdamW: Sử dụng LR 1e-4 phối hợp scheduler Cosine Annealing giúp mô hình hội tụ nhanh và ổn định.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0B0F19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kin_training_curves_17800189339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CLINICAL CONFUSION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latin typeface="Arial"/>
              </a:defRPr>
            </a:pPr>
            <a:r>
              <a:rPr>
                <a:solidFill>
                  <a:srgbClr val="0F172A"/>
                </a:solidFill>
              </a:rPr>
              <a:t>PHÂN TÍCH MA TRẬN NHẦM LẪN LÂM SÀNG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16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Độ chính xác cao: Đường chéo chính thể hiện tỷ lệ chẩn đoán đúng vượt trội của các lớp nv, vasc và bcc.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Lỗi chẩn đoán sai nguy hiểm: Melanoma (Ác tính) bị nhầm thành Benign Keratosis (Lành tính).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Giải pháp lâm sàng: Hạ ngưỡng quyết định chẩn đoán (Decision Threshold) đối với lớp ác tính để không bỏ sót bệnh.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0B0F19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kin_confusion_matrix_17800189699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480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MODEL PERFORMANCE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4800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latin typeface="Arial"/>
              </a:defRPr>
            </a:pPr>
            <a:r>
              <a:rPr>
                <a:solidFill>
                  <a:srgbClr val="0F172A"/>
                </a:solidFill>
              </a:rPr>
              <a:t>SO SÁNH HIỆU NĂNG VỚI CÁC MẠNG CNN KHÁC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16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F2FE"/>
                </a:solidFill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Phân tích kết quả đánh giá thử nghiệm: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EfficientNet-B4: Đạt Accuracy ~89.2% và F1-score ~87.8% dẫn đầu nhờ kiến trúc tối ưu.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ResNet50: Đạt Accuracy ~83.5%, tốc độ hội tụ chậm hơn và dễ bị overfitting hơn.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MobileNetV2: Chỉ đạt Accuracy ~78.4% do số lượng tham số ít, gặp khó khăn với tổn thương phức tạp.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097280"/>
            <a:ext cx="3749039" cy="3566160"/>
          </a:xfrm>
          <a:prstGeom prst="roundRect">
            <a:avLst>
              <a:gd name="adj" fmla="val 5000"/>
            </a:avLst>
          </a:prstGeom>
          <a:solidFill>
            <a:srgbClr val="16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0" y="1371600"/>
          <a:ext cx="3566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F2FE"/>
                          </a:solidFill>
                          <a:latin typeface="Outfit"/>
                        </a:defRPr>
                      </a:pPr>
                      <a:r>
                        <a:t>Phương pháp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F2FE"/>
                          </a:solidFill>
                          <a:latin typeface="Outfit"/>
                        </a:defRPr>
                      </a:pPr>
                      <a:r>
                        <a:t>Ngữ cảnh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F2FE"/>
                          </a:solidFill>
                          <a:latin typeface="Outfit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RoBERTa (Chỉ Text)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Không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60.5%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CNN + Wav2Vec (V+A)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Có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46.1%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Late Fusion (Đa kênh)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Không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63.2%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DialogueGCN (Đề xuất)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Có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68.2%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 descr="skin_performance_chart_17800189920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0" y="1800000"/>
            <a:ext cx="3300000" cy="28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DIAGNOSTIC SYSTEM FLOW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LUỒNG XỬ LÝ HỆ THỐNG DEMO CHẨN ĐOÁN LÂM SÀNG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16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Bước 1 (Tải ảnh): Người dùng chụp ảnh tổn thương da bằng camera/dermoscope và tải lên hệ thống.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Bước 2 (Tiền xử lý): Thuật toán DullRazor tự động xóa lông tóc nhiễu trên bề mặt tổn thương.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Bước 3 (Suy luận CNN): EfficientNet-B4 phân tích vùng da bệnh lý, trích xuất đặc trưng sắc tố.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Bước 4 (Kết quả): Hệ thống xuất % xác suất của 7 lớp tổn thương kèm cảnh báo đỏ nếu có nguy cơ ung thư.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0B0F19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kin_app_demo_17800190108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HEALTHCARE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TIỀN NĂNG ỨNG DỤNG Y TẾ SỐ THỰC TIỄN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16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Chủ động tự khám (Self-checking): Ứng dụng di động giúp sàng lọc sớm nốt ruồi lạ trước khi tới bệnh viện.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Y tế vùng sâu (Tele-dermatology): Hỗ trợ chẩn đoán chất lượng cao cho các trạm y tế cơ sở thiếu bác sĩ chuyên khoa.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Hỗ trợ quyết định lâm sàng: Làm trợ lý AI đắc lực cho bác sĩ da liễu, giảm thiểu các sai sót chủ quan.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0B0F19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kin_telehealth_17800190426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LIMITATIONS &amp; CLINICAL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latin typeface="Arial"/>
              </a:defRPr>
            </a:pPr>
            <a:r>
              <a:rPr>
                <a:solidFill>
                  <a:srgbClr val="0F172A"/>
                </a:solidFill>
              </a:rPr>
              <a:t>HẠN CHẾ &amp; HƯỚNG ĐI TƯƠNG LAI LÂM SÀNG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16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Hạn chế hiện tại của mô hình: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  - Thiên lệch màu da: Dữ liệu HAM10000 chủ yếu thu thập từ người da sáng, độ chính xác giảm nhẹ trên người da màu sẫm.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  - Yêu cầu môi trường ánh sáng chuẩn: Ảnh chụp bằng điện thoại thường dễ bị nhiễu do góc chụp và độ sáng.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• Hướng phát triển tương lai: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  - Thử nghiệm lâm sàng đa trung tâm (Clinical Trials) để đánh giá độ an toàn.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>
                <a:solidFill>
                  <a:srgbClr val="334155"/>
                </a:solidFill>
              </a:rPr>
              <a:t>  - Tích hợp mô hình Vision-Language (VLM) hỗ trợ bác sĩ viết bệnh án tự động.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0B0F19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kin_global_diversity_17800190787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914400"/>
            <a:ext cx="4800000" cy="3314700"/>
          </a:xfrm>
          <a:prstGeom prst="roundRect">
            <a:avLst>
              <a:gd name="adj" fmla="val 5000"/>
            </a:avLst>
          </a:prstGeom>
          <a:solidFill>
            <a:srgbClr val="16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54480" y="1280160"/>
            <a:ext cx="4800000" cy="1667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00F2FE"/>
                </a:solidFill>
                <a:latin typeface="Arial"/>
              </a:defRPr>
            </a:pPr>
            <a:r>
              <a:rPr>
                <a:solidFill>
                  <a:srgbClr val="0F172A"/>
                </a:solidFill>
              </a:rPr>
              <a:t>• Đột phá công nghệ: Học sâu/CNN nâng cao rõ rệt tỷ lệ chẩn đoán và phát hiện sớm ung thư da tự động.</a:t>
            </a:r>
          </a:p>
          <a:p>
            <a:pPr>
              <a:spcAft>
                <a:spcPts val="400"/>
              </a:spcAft>
              <a:defRPr sz="2800" b="1">
                <a:latin typeface="Arial"/>
              </a:defRPr>
            </a:pPr>
            <a:r>
              <a:rPr>
                <a:solidFill>
                  <a:srgbClr val="0F172A"/>
                </a:solidFill>
              </a:rPr>
              <a:t>• Hiệu năng lâm sàng: Mô hình EfficientNet-B4 + CBAM đạt độ chính xác cao (~89.2%), sẵn sàng ứng dụng thực tiễn.</a:t>
            </a:r>
          </a:p>
          <a:p>
            <a:pPr>
              <a:spcAft>
                <a:spcPts val="400"/>
              </a:spcAft>
              <a:defRPr sz="2800" b="1">
                <a:latin typeface="Arial"/>
              </a:defRPr>
            </a:pPr>
            <a:r>
              <a:rPr>
                <a:solidFill>
                  <a:srgbClr val="0F172A"/>
                </a:solidFill>
              </a:rPr>
              <a:t>• Giá trị y tế số: Góp phần giảm tải hệ thống y tế, nâng cao chất lượng sống và cứu sống nhiều bệnh nhân.</a:t>
            </a:r>
          </a:p>
          <a:p>
            <a:pPr>
              <a:spcAft>
                <a:spcPts val="400"/>
              </a:spcAft>
              <a:defRPr sz="2800" b="1">
                <a:latin typeface="Arial"/>
              </a:defRPr>
            </a:pPr>
          </a:p>
          <a:p>
            <a:pPr>
              <a:spcAft>
                <a:spcPts val="400"/>
              </a:spcAft>
              <a:defRPr sz="2800" b="1">
                <a:latin typeface="Arial"/>
              </a:defRPr>
            </a:pPr>
            <a:r>
              <a:rPr>
                <a:solidFill>
                  <a:srgbClr val="0F172A"/>
                </a:solidFill>
              </a:rPr>
              <a:t>CẢM ƠN THẦY CÔ VÀ BAN GIÁM KHẢO ĐÃ THEO DÕI &amp; LẮNG NGHE! MỜI ĐẶT CÂU HỎI.</a:t>
            </a:r>
          </a:p>
        </p:txBody>
      </p:sp>
      <p:pic>
        <p:nvPicPr>
          <p:cNvPr id="4" name="Picture 3" descr="skin_protection_icon_17800191061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0" y="1800000"/>
            <a:ext cx="3300000" cy="28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1655</Words>
  <Application>Microsoft Office PowerPoint</Application>
  <PresentationFormat>On-screen Show (16:9)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1871020044 Đào Quang Việt Anh</cp:lastModifiedBy>
  <cp:revision>2</cp:revision>
  <dcterms:created xsi:type="dcterms:W3CDTF">2013-01-27T09:14:16Z</dcterms:created>
  <dcterms:modified xsi:type="dcterms:W3CDTF">2026-05-29T01:14:59Z</dcterms:modified>
  <cp:category/>
</cp:coreProperties>
</file>