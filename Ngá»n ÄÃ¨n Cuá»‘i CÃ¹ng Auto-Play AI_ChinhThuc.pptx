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8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731520"/>
            <a:ext cx="4206240" cy="3749039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3840480" cy="3383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EMOTION AI</a:t>
            </a:r>
          </a:p>
          <a:p>
            <a:pPr>
              <a:spcAft>
                <a:spcPts val="1400"/>
              </a:spcAft>
              <a:defRPr sz="26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NHẬN DIỆN CẢM XÚC</a:t>
            </a:r>
            <a:br/>
            <a:r>
              <a:rPr>
                <a:solidFill>
                  <a:srgbClr val="191E28"/>
                </a:solidFill>
              </a:rPr>
              <a:t>THEO NGỮ CẢNH</a:t>
            </a:r>
            <a:br/>
            <a:r>
              <a:rPr>
                <a:solidFill>
                  <a:srgbClr val="191E28"/>
                </a:solidFill>
              </a:rPr>
              <a:t>TỪ VIDEO HỘI THOẠI</a:t>
            </a:r>
          </a:p>
          <a:p>
            <a:pPr>
              <a:spcAft>
                <a:spcPts val="2000"/>
              </a:spcAft>
              <a:defRPr sz="1100">
                <a:solidFill>
                  <a:srgbClr val="00F2F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Context-Aware Multimodal Emotion Recognition</a:t>
            </a:r>
          </a:p>
          <a:p>
            <a:pPr>
              <a:defRPr sz="1000">
                <a:solidFill>
                  <a:srgbClr val="94A3B8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Môn học: Trí tuệ Nhân tạo / Computer Vision</a:t>
            </a:r>
            <a:br/>
            <a:r>
              <a:rPr>
                <a:solidFill>
                  <a:srgbClr val="191E28"/>
                </a:solidFill>
              </a:rPr>
              <a:t>Nhóm thực hiện: ... | GVHD: 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1184" y="694944"/>
            <a:ext cx="3822191" cy="3822191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731520"/>
            <a:ext cx="3749039" cy="374903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ĐẶT VẤN ĐỀ &amp; BỐI CẢNH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Giao tiếp tự nhiên: Cảm xúc con người không chỉ là những khung hình tĩnh, nó là một dòng chảy thông tin liên tục.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Sự mập mờ cảm xúc: Một câu nói "Tôi ổn" hay "Hay quá nhỉ" có thể mang nghĩa vui vẻ hoặc châm biếm, tức giận dựa vào ngữ cảnh đối thoại.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Thách thức của phương pháp cũ: Xem xét từng câu nói độc lập (Context-free) bỏ sót sự phát triển tâm lý tự thân và sự ảnh hưởng giữa các speaker.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Giải pháp đa phương thức: Phối hợp chặt chẽ cả 3 kênh Video (Vẻ mặt), Audio (Ngữ điệu) và Text (Ngữ nghĩa) để giải mã chính xác nhất.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MỤC TIÊU ĐỀ TÀI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1. Nhận diện chuẩn xác: Phân loại cuộc hội thoại thành 7 lớp cảm xúc chính (Vui vẻ, Buồn bã, Tức giận, Ngạc nhiên, Sợ hãi, Khó chịu, Bình thường).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2. Khai thác đa phương thức: Trích xuất song song và tích hợp đặc trưng từ Nét mặt (Video), Giọng nói (Audio) và Lời thoại (Text).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3. Mô hình ngữ cảnh xã hội: Áp dụng Graph Neural Networks để nắm bắt sự tương tác qua lại giữa những người nói trong hội thoại.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4. Đột phá hiệu năng: Đạt chỉ số F1-score vượt bậc so với các mô hình Unimodal và Context-free truyền thống.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arget_emo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DATASET &amp; LABELING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BỘ DỮ LIỆU NGHIÊN CỨU MELD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Quy mô lớn: Hơn 1,400 cuộc hội thoại chứa khoảng 13,000 câu thoại (utterances) riêng lẻ cực kỳ đa dạng.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Đa phương thức hoàn chỉnh: Cung cấp đầy đủ file Video (.mp4), file Audio (.wav) và Text transcript tương ứng.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Thử thách mất cân bằng lớp: Nhãn Neutral (~47%) chiếm đa số, đòi hỏi hàm loss chuyên biệt (Weighted Cross-Entropy).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Đậm tính thực tế: Hội thoại tự nhiên, có tiếng cười nền của khán giả và biểu cảm châm biếm phức tạp của các nhân vật.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TIỀN XỬ LÝ DỮ LIỆU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Luồng Video (Khuôn mặt): Cắt mặt bằng MediaPipe/MTCNN -&gt; Resize về chuẩn 224x224 -&gt; Tăng cường dữ liệu (lật, xoay nhẹ).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Luồng Audio (Âm thanh): Trích xuất âm thanh từ video -&gt; Đưa về đơn kênh (mono) 16kHz -&gt; Lấy MFCCs hoặc dùng Wav2Vec.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Luồng Text (Văn bản): Làm sạch văn bản hội thoại -&gt; Tokenize bằng RoBERTa Tokenizer -&gt; Padding chuỗi về độ dài cố định.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Mục tiêu: Tạo ra các vector đặc trưng sạch và đồng bộ thời gian.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e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FACE DETECTION &amp; LANDMARKS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PHÁT HIỆN &amp; BÁM VẾT MẶT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Sử dụng MediaPipe Face Mesh: Định vị chính xác khuôn mặt và trích xuất hàng trăm điểm mốc (landmarks) biểu cảm cơ mặt.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Định vị Bounding Box: Vẽ khung giới hạn để loại bỏ hoàn toàn nhiễu từ nền video và tập trung vào nhân vật đang nói.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Độ bền vững cực cao: Hệ thống bám vết tốt ngay cả khi nhân vật nói chuyện nghiêng mặt, cử động nhanh hoặc ánh sáng thay đổi.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Trích xuất đặc trưng sâu: Sử dụng mạng ResNet-50 trích xuất vector biểu cảm khuôn mặt.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ce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PROPOSED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KIẾN TRÚC MÔ HÌNH ĐỀ XUẤT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1. Feature Extractors: Chạy song song RoBERTa (Text), Wav2Vec 2.0 (Audio), và ResNet-50 (Face Video) để lấy đặc trưng thô.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2. Multimodal Fusion: Dùng Cross-Attention để tìm mối tương quan và gộp 3 luồng thông tin thành 1 vector đại diện câu thoại.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3. Context Modeling: Đưa chuỗi câu thoại vào mô hình đồ thị DialogueGCN để truyền thông tin ngữ cảnh hội thoại.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4. Softmax Classifier: Đưa ra phân bố xác suất cảm xúc cuối cùng.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CONTEXT MODELING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MÔ HÌNH NGỮ CẢNH DIALOGUEGCN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Cấu trúc Graph: Mỗi câu thoại là một nút (node), các cạnh nối thể hiện dòng thời gian và mối quan hệ giữa các nhân vật.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Self-influence: Mô hình hóa việc cảm xúc hiện tại của một người bị ảnh hưởng bởi chính họ trong quá khứ.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Inter-speaker influence: Mô hình hóa sự tác động qua lại, kích thích cảm xúc lẫn nhau giữa các speaker trong đối thoại.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Truyền thông điệp (Message Passing): GCN cập nhật vector đặc trưng của từng nút dựa trên thông tin của các nút xung quanh.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oposed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THIẾT LẬP HUẤN LUYỆN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Tỷ lệ phân chia dữ liệu: Train/Val/Test giữ nguyên chuẩn 80/10/10 trên bộ dữ liệu MELD.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Weighted Cross-Entropy Loss: Áp đặt trọng số phạt nặng hơn cho các cảm xúc hiếm gặp (Fear, Disgust) tránh mô hình bị thiên lệch.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Thuật toán AdamW: Tối ưu hóa trọng số với learning rate warmup và Cosine Annealing decay.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Kỹ thuật Early Stopping: Dừng huấn luyện khi Loss trên tập Validation không giảm sau 10 epochs liên tục để tránh học vẹt.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oposed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PERFORMANCE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SO SÁNH HIỆU NĂNG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F2F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Phân tích kết quả thử nghiệm: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Sức mạnh của Text: RoBERTa đạt F1 ~60.5%, khẳng định lời thoại chứa nhiều tín hiệu cảm xúc nhất.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Điểm yếu của đơn kênh khác: Video và Audio đơn lẻ chỉ đạt dưới 46% do ảnh hưởng cực lớn của tiếng ồn và ánh sáng.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Đột phá nhờ Ngữ cảnh: Mô hình đề xuất DialogueGCN đạt F1-score 68.2% nhờ truyền thông tin ngữ cảnh lịch sử hội thoại.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097280"/>
            <a:ext cx="3749039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0" y="1371600"/>
          <a:ext cx="3566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F2FE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Phương pháp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F2FE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Ngữ cảnh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F2FE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RoBERTa (Chỉ Text)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Không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60.5%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CNN + Wav2Vec (V+A)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Có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46.1%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Late Fusion (Đa kênh)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Không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63.2%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DialogueGCN (Đề xuất)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Có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rPr>
                          <a:solidFill>
                            <a:srgbClr val="191E28"/>
                          </a:solidFill>
                        </a:rPr>
                        <a:t>68.2%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CONFUSION MATRIX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MA TRẬN NHẦM LẪN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Nhận diện đúng: Đường chéo chính của ma trận biểu thị tỷ lệ đoán trúng cực cao của Joy, Anger và Neutral.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Các lỗi nhầm lẫn phổ biến và cách khắc phục: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  - Sadness (Buồn bã) dễ bị nhầm sang Neutral (Bình thường): Khắc phục bằng cách tăng cường âm lượng giọng nói (Audio).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  - Fear (Sợ hãi) dễ nhầm sang Surprise (Ngạc nhiên): Khắc phục bằng cách tận dụng ngữ cảnh văn bản (Text).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Định hướng cải tiến: Tăng trọng số phạt đối với các ô nhầm lẫn.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SYSTEM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KỊCH BẢN DEMO HỆ THỐNG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Step 1: Người dùng tải video cuộc đối thoại lên hệ thống.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Step 2: OpenAI Whisper tự động nhận dạng tiếng nói và dịch thành text transcript.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Step 3: Định vị và cắt khuôn mặt của từng speaker song song đồng bộ với audio.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Step 4: DialogueGCN truyền đặc trưng qua đồ thị để suy luận cảm xúc của mỗi nhân vật.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Step 5: Giao diện trực quan vẽ biểu đồ đường xu hướng cảm xúc biến động realtime cực sinh động.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PRACTICAL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ỨNG DỤNG THỰC TẾ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Giáo dục thông minh: Đánh giá sự tập trung, hứng thú hay căng thẳng của học sinh trong các bài giảng trực tuyến E-learning.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Smart Meetings: Ghi nhận thái độ, mức độ tham gia đóng góp và sự đồng thuận của các thành viên trong phòng họp doanh nghiệp.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Trợ lý AI &amp; Chatbot thế hệ mới: Nâng cấp khả năng thấu cảm (Empathy AI), tự động điều chỉnh giọng điệu/nội dung theo cảm xúc khách hàng.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Sức khỏe tinh thần: Cảnh báo sớm stress, lo âu thông qua phân tích video cuộc trò chuyện.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43F5E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LIMITATIONS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HẠN CHẾ &amp; HƯỚNG PHÁT TRIỂN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Hạn chế hiện tại: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  - Độ trễ tính toán cao khi chạy đồng thời nhiều mô hình AI lớn.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  - Sự sai lệch văn hóa biểu cảm (Mỹ - Việt) chưa được chuẩn hóa hoàn chỉnh.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• Định hướng phát triển tương lai: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  - Tích hợp các Multimodal LLMs (Gemini, GPT-4o) để phân tích ngữ cảnh xã hội sâu sắc.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>
                <a:solidFill>
                  <a:srgbClr val="191E28"/>
                </a:solidFill>
              </a:rPr>
              <a:t>  - Áp dụng kỹ thuật nén mô hình, TensorRT để tối ưu hóa tốc độ realtime đạt dưới 10ms.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01184" y="1060704"/>
            <a:ext cx="3822191" cy="3639312"/>
          </a:xfrm>
          <a:prstGeom prst="rect">
            <a:avLst/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749039" cy="356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914400"/>
            <a:ext cx="6400800" cy="33147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54480" y="1280160"/>
            <a:ext cx="6035040" cy="166712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800" b="1">
                <a:solidFill>
                  <a:srgbClr val="00F2FE"/>
                </a:solidFill>
                <a:latin typeface="Outfit"/>
              </a:defRPr>
            </a:pPr>
            <a:r>
              <a:rPr dirty="0">
                <a:solidFill>
                  <a:srgbClr val="191E28"/>
                </a:solidFill>
              </a:rPr>
              <a:t>KẾT LUẬN &amp; THẢO LUẬN</a:t>
            </a:r>
          </a:p>
          <a:p>
            <a:pPr>
              <a:spcAft>
                <a:spcPts val="2000"/>
              </a:spcAft>
              <a:defRPr sz="1100">
                <a:solidFill>
                  <a:srgbClr val="FFFFFF"/>
                </a:solidFill>
                <a:latin typeface="Outfit"/>
              </a:defRPr>
            </a:pPr>
            <a:r>
              <a:rPr dirty="0">
                <a:solidFill>
                  <a:srgbClr val="191E28"/>
                </a:solidFill>
              </a:rPr>
              <a:t>• </a:t>
            </a:r>
            <a:r>
              <a:rPr dirty="0" err="1">
                <a:solidFill>
                  <a:srgbClr val="191E28"/>
                </a:solidFill>
              </a:rPr>
              <a:t>Ngữ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cảnh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hội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thoại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là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chìa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khóa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để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phá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vỡ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giới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hạn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của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nhận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diện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cảm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xúc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truyền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thống</a:t>
            </a:r>
            <a:r>
              <a:rPr dirty="0">
                <a:solidFill>
                  <a:srgbClr val="191E28"/>
                </a:solidFill>
              </a:rPr>
              <a:t>.</a:t>
            </a:r>
            <a:br>
              <a:rPr dirty="0"/>
            </a:br>
            <a:r>
              <a:rPr dirty="0">
                <a:solidFill>
                  <a:srgbClr val="191E28"/>
                </a:solidFill>
              </a:rPr>
              <a:t>• </a:t>
            </a:r>
            <a:r>
              <a:rPr dirty="0" err="1">
                <a:solidFill>
                  <a:srgbClr val="191E28"/>
                </a:solidFill>
              </a:rPr>
              <a:t>Đồng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bộ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đa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phương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thức</a:t>
            </a:r>
            <a:r>
              <a:rPr dirty="0">
                <a:solidFill>
                  <a:srgbClr val="191E28"/>
                </a:solidFill>
              </a:rPr>
              <a:t> (Video - Audio - Text) </a:t>
            </a:r>
            <a:r>
              <a:rPr dirty="0" err="1">
                <a:solidFill>
                  <a:srgbClr val="191E28"/>
                </a:solidFill>
              </a:rPr>
              <a:t>đem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lại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cái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nhìn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tâm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lý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toàn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diện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nhất</a:t>
            </a:r>
            <a:r>
              <a:rPr dirty="0">
                <a:solidFill>
                  <a:srgbClr val="191E28"/>
                </a:solidFill>
              </a:rPr>
              <a:t>.</a:t>
            </a:r>
            <a:br>
              <a:rPr dirty="0"/>
            </a:br>
            <a:r>
              <a:rPr dirty="0">
                <a:solidFill>
                  <a:srgbClr val="191E28"/>
                </a:solidFill>
              </a:rPr>
              <a:t>• </a:t>
            </a:r>
            <a:r>
              <a:rPr dirty="0" err="1">
                <a:solidFill>
                  <a:srgbClr val="191E28"/>
                </a:solidFill>
              </a:rPr>
              <a:t>DialogueGCN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đạt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hiệu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năng</a:t>
            </a:r>
            <a:r>
              <a:rPr dirty="0">
                <a:solidFill>
                  <a:srgbClr val="191E28"/>
                </a:solidFill>
              </a:rPr>
              <a:t> F1-score </a:t>
            </a:r>
            <a:r>
              <a:rPr dirty="0" err="1">
                <a:solidFill>
                  <a:srgbClr val="191E28"/>
                </a:solidFill>
              </a:rPr>
              <a:t>vượt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trội</a:t>
            </a:r>
            <a:r>
              <a:rPr dirty="0">
                <a:solidFill>
                  <a:srgbClr val="191E28"/>
                </a:solidFill>
              </a:rPr>
              <a:t>, </a:t>
            </a:r>
            <a:r>
              <a:rPr dirty="0" err="1">
                <a:solidFill>
                  <a:srgbClr val="191E28"/>
                </a:solidFill>
              </a:rPr>
              <a:t>mở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rộng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tiềm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năng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ứng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dụng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thực</a:t>
            </a:r>
            <a:r>
              <a:rPr dirty="0">
                <a:solidFill>
                  <a:srgbClr val="191E28"/>
                </a:solidFill>
              </a:rPr>
              <a:t> </a:t>
            </a:r>
            <a:r>
              <a:rPr dirty="0" err="1">
                <a:solidFill>
                  <a:srgbClr val="191E28"/>
                </a:solidFill>
              </a:rPr>
              <a:t>tế</a:t>
            </a:r>
            <a:r>
              <a:rPr dirty="0">
                <a:solidFill>
                  <a:srgbClr val="191E28"/>
                </a:solidFill>
              </a:rPr>
              <a:t>.</a:t>
            </a:r>
          </a:p>
          <a:p>
            <a:pPr algn="ctr">
              <a:defRPr sz="1300" b="1">
                <a:solidFill>
                  <a:srgbClr val="F43F5E"/>
                </a:solidFill>
                <a:latin typeface="Outfit"/>
              </a:defRPr>
            </a:pPr>
            <a:r>
              <a:rPr dirty="0">
                <a:solidFill>
                  <a:srgbClr val="191E28"/>
                </a:solidFill>
              </a:rPr>
              <a:t>CẢM ƠN THẦY/CÔ VÀ CÁC BẠN ĐÃ LẮNG NGHE! 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1655</Words>
  <Application>Microsoft Office PowerPoint</Application>
  <PresentationFormat>On-screen Show (16:9)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1871020044 Đào Quang Việt Anh</cp:lastModifiedBy>
  <cp:revision>3</cp:revision>
  <dcterms:created xsi:type="dcterms:W3CDTF">2013-01-27T09:14:16Z</dcterms:created>
  <dcterms:modified xsi:type="dcterms:W3CDTF">2026-05-29T05:35:21Z</dcterms:modified>
  <cp:category/>
</cp:coreProperties>
</file>